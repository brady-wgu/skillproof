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9" r:id="rId3"/>
    <p:sldId id="257" r:id="rId4"/>
    <p:sldId id="261" r:id="rId5"/>
    <p:sldId id="270" r:id="rId6"/>
    <p:sldId id="273" r:id="rId7"/>
    <p:sldId id="268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0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dy Redfearn" userId="6ef84a18-530f-4181-8c29-cc082e5a3b23" providerId="ADAL" clId="{47D9E70C-2C6B-4036-B5B7-15A4B684A759}"/>
    <pc:docChg chg="addSld delSld modSld sldOrd">
      <pc:chgData name="Brady Redfearn" userId="6ef84a18-530f-4181-8c29-cc082e5a3b23" providerId="ADAL" clId="{47D9E70C-2C6B-4036-B5B7-15A4B684A759}" dt="2026-08-07T14:49:39.769" v="66" actId="20577"/>
      <pc:docMkLst>
        <pc:docMk/>
      </pc:docMkLst>
      <pc:sldChg chg="modSp mod">
        <pc:chgData name="Brady Redfearn" userId="6ef84a18-530f-4181-8c29-cc082e5a3b23" providerId="ADAL" clId="{47D9E70C-2C6B-4036-B5B7-15A4B684A759}" dt="2026-08-07T14:48:57.722" v="46" actId="20577"/>
        <pc:sldMkLst>
          <pc:docMk/>
          <pc:sldMk cId="0" sldId="256"/>
        </pc:sldMkLst>
        <pc:spChg chg="mod">
          <ac:chgData name="Brady Redfearn" userId="6ef84a18-530f-4181-8c29-cc082e5a3b23" providerId="ADAL" clId="{47D9E70C-2C6B-4036-B5B7-15A4B684A759}" dt="2026-08-07T14:48:57.722" v="46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Brady Redfearn" userId="6ef84a18-530f-4181-8c29-cc082e5a3b23" providerId="ADAL" clId="{47D9E70C-2C6B-4036-B5B7-15A4B684A759}" dt="2026-08-07T14:49:23.187" v="54" actId="20577"/>
        <pc:sldMkLst>
          <pc:docMk/>
          <pc:sldMk cId="0" sldId="257"/>
        </pc:sldMkLst>
        <pc:spChg chg="mod">
          <ac:chgData name="Brady Redfearn" userId="6ef84a18-530f-4181-8c29-cc082e5a3b23" providerId="ADAL" clId="{47D9E70C-2C6B-4036-B5B7-15A4B684A759}" dt="2026-08-07T14:49:23.187" v="54" actId="20577"/>
          <ac:spMkLst>
            <pc:docMk/>
            <pc:sldMk cId="0" sldId="257"/>
            <ac:spMk id="27" creationId="{00000000-0000-0000-0000-000000000000}"/>
          </ac:spMkLst>
        </pc:spChg>
      </pc:sldChg>
      <pc:sldChg chg="modSp mod">
        <pc:chgData name="Brady Redfearn" userId="6ef84a18-530f-4181-8c29-cc082e5a3b23" providerId="ADAL" clId="{47D9E70C-2C6B-4036-B5B7-15A4B684A759}" dt="2026-08-07T14:49:28.870" v="58" actId="20577"/>
        <pc:sldMkLst>
          <pc:docMk/>
          <pc:sldMk cId="0" sldId="261"/>
        </pc:sldMkLst>
        <pc:spChg chg="mod">
          <ac:chgData name="Brady Redfearn" userId="6ef84a18-530f-4181-8c29-cc082e5a3b23" providerId="ADAL" clId="{47D9E70C-2C6B-4036-B5B7-15A4B684A759}" dt="2026-08-07T14:49:28.870" v="58" actId="20577"/>
          <ac:spMkLst>
            <pc:docMk/>
            <pc:sldMk cId="0" sldId="261"/>
            <ac:spMk id="69" creationId="{00000000-0000-0000-0000-000000000000}"/>
          </ac:spMkLst>
        </pc:spChg>
      </pc:sldChg>
      <pc:sldChg chg="modSp mod">
        <pc:chgData name="Brady Redfearn" userId="6ef84a18-530f-4181-8c29-cc082e5a3b23" providerId="ADAL" clId="{47D9E70C-2C6B-4036-B5B7-15A4B684A759}" dt="2026-08-07T14:49:13.413" v="50" actId="20577"/>
        <pc:sldMkLst>
          <pc:docMk/>
          <pc:sldMk cId="0" sldId="269"/>
        </pc:sldMkLst>
        <pc:spChg chg="mod">
          <ac:chgData name="Brady Redfearn" userId="6ef84a18-530f-4181-8c29-cc082e5a3b23" providerId="ADAL" clId="{47D9E70C-2C6B-4036-B5B7-15A4B684A759}" dt="2026-07-22T18:58:55.734" v="18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Brady Redfearn" userId="6ef84a18-530f-4181-8c29-cc082e5a3b23" providerId="ADAL" clId="{47D9E70C-2C6B-4036-B5B7-15A4B684A759}" dt="2026-07-22T18:58:58.730" v="27" actId="20577"/>
          <ac:spMkLst>
            <pc:docMk/>
            <pc:sldMk cId="0" sldId="269"/>
            <ac:spMk id="12" creationId="{00000000-0000-0000-0000-000000000000}"/>
          </ac:spMkLst>
        </pc:spChg>
        <pc:spChg chg="mod">
          <ac:chgData name="Brady Redfearn" userId="6ef84a18-530f-4181-8c29-cc082e5a3b23" providerId="ADAL" clId="{47D9E70C-2C6B-4036-B5B7-15A4B684A759}" dt="2026-08-07T14:49:13.413" v="50" actId="20577"/>
          <ac:spMkLst>
            <pc:docMk/>
            <pc:sldMk cId="0" sldId="269"/>
            <ac:spMk id="20" creationId="{00000000-0000-0000-0000-000000000000}"/>
          </ac:spMkLst>
        </pc:spChg>
      </pc:sldChg>
      <pc:sldChg chg="modSp mod">
        <pc:chgData name="Brady Redfearn" userId="6ef84a18-530f-4181-8c29-cc082e5a3b23" providerId="ADAL" clId="{47D9E70C-2C6B-4036-B5B7-15A4B684A759}" dt="2026-08-07T14:49:33.451" v="62" actId="20577"/>
        <pc:sldMkLst>
          <pc:docMk/>
          <pc:sldMk cId="0" sldId="270"/>
        </pc:sldMkLst>
        <pc:spChg chg="mod">
          <ac:chgData name="Brady Redfearn" userId="6ef84a18-530f-4181-8c29-cc082e5a3b23" providerId="ADAL" clId="{47D9E70C-2C6B-4036-B5B7-15A4B684A759}" dt="2026-08-07T14:49:33.451" v="62" actId="20577"/>
          <ac:spMkLst>
            <pc:docMk/>
            <pc:sldMk cId="0" sldId="270"/>
            <ac:spMk id="23" creationId="{00000000-0000-0000-0000-000000000000}"/>
          </ac:spMkLst>
        </pc:spChg>
      </pc:sldChg>
      <pc:sldChg chg="modSp add mod ord modAnim">
        <pc:chgData name="Brady Redfearn" userId="6ef84a18-530f-4181-8c29-cc082e5a3b23" providerId="ADAL" clId="{47D9E70C-2C6B-4036-B5B7-15A4B684A759}" dt="2026-08-07T14:49:39.769" v="66" actId="20577"/>
        <pc:sldMkLst>
          <pc:docMk/>
          <pc:sldMk cId="0" sldId="273"/>
        </pc:sldMkLst>
        <pc:spChg chg="mod">
          <ac:chgData name="Brady Redfearn" userId="6ef84a18-530f-4181-8c29-cc082e5a3b23" providerId="ADAL" clId="{47D9E70C-2C6B-4036-B5B7-15A4B684A759}" dt="2026-08-07T14:49:39.769" v="66" actId="20577"/>
          <ac:spMkLst>
            <pc:docMk/>
            <pc:sldMk cId="0" sldId="273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098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lrps.wgu.edu/provision/590963999" TargetMode="Externa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hyperlink" Target="https://brady-wgu.github.io/SkillProof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WGU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606040" cy="8561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2148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6B1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WGU · PROGRAM DEVELOPMENT · SKILLPROOF 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505456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SkillProof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566928" y="363931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6B1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Coaching + Extensibility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66928" y="42245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EF6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introduction and live demo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5440680"/>
            <a:ext cx="11094415" cy="0"/>
          </a:xfrm>
          <a:prstGeom prst="line">
            <a:avLst/>
          </a:prstGeom>
          <a:noFill/>
          <a:ln w="9525">
            <a:solidFill>
              <a:srgbClr val="46B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5577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Brady Redfearn, PhD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EEF6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Sr. Technology Strategist, Program Development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42655" y="5577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6B1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Oct 2026  ·  v1.2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WGU confidential / proprietary. Internal Program Development review.</a:t>
            </a:r>
            <a:endParaRPr lang="en-US" sz="900" dirty="0"/>
          </a:p>
        </p:txBody>
      </p:sp>
      <p:sp>
        <p:nvSpPr>
          <p:cNvPr id="12" name="Rectangle 1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46B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 Experience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441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Program Development builds what doesn't exist yet.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515258" cy="128016"/>
          </a:xfrm>
          <a:prstGeom prst="rect">
            <a:avLst/>
          </a:prstGeom>
          <a:solidFill>
            <a:srgbClr val="46B1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8640" y="3611880"/>
            <a:ext cx="307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long-term horizon for the student experience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38218" y="237744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38218" y="2377440"/>
            <a:ext cx="3515258" cy="128016"/>
          </a:xfrm>
          <a:prstGeom prst="rect">
            <a:avLst/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38218" y="292608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58218" y="3611880"/>
            <a:ext cx="307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new ideas and technology into reality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7796" y="2377440"/>
            <a:ext cx="3515259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27796" y="2377440"/>
            <a:ext cx="3515259" cy="128016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27796" y="2926080"/>
            <a:ext cx="35152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47796" y="3611880"/>
            <a:ext cx="30752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Proving it works, and making it better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WGU · PROGRAM DEVELOPMENT · SKILLPROOF OVERVIEW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Oct 2026 · v1.2   ·   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7665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SkillProof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441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AI-powered coaching platform for WGU students, closing skill gaps before high-stakes assessments.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2532952"/>
            <a:ext cx="700000" cy="700000"/>
          </a:xfrm>
          <a:prstGeom prst="ellipse">
            <a:avLst/>
          </a:prstGeom>
          <a:solidFill>
            <a:srgbClr val="EEF6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60" y="2727504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532952"/>
            <a:ext cx="43434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Adaptive, LLM-driven coaching</a:t>
            </a:r>
            <a:endParaRPr lang="en-US" sz="1800" dirty="0"/>
          </a:p>
        </p:txBody>
      </p:sp>
      <p:sp>
        <p:nvSpPr>
          <p:cNvPr id="90" name="Text 6b"/>
          <p:cNvSpPr/>
          <p:nvPr/>
        </p:nvSpPr>
        <p:spPr>
          <a:xfrm>
            <a:off x="1508760" y="3232952"/>
            <a:ext cx="43434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practice with real-time feedback until mastery.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45352" y="2286000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46520" y="2532952"/>
            <a:ext cx="700000" cy="700000"/>
          </a:xfrm>
          <a:prstGeom prst="ellipse">
            <a:avLst/>
          </a:prstGeom>
          <a:solidFill>
            <a:srgbClr val="EEF6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072" y="272750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2532952"/>
            <a:ext cx="43434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Owned in-house, built to scale</a:t>
            </a:r>
            <a:endParaRPr lang="en-US" sz="1800" dirty="0"/>
          </a:p>
        </p:txBody>
      </p:sp>
      <p:sp>
        <p:nvSpPr>
          <p:cNvPr id="91" name="Text 9b"/>
          <p:cNvSpPr/>
          <p:nvPr/>
        </p:nvSpPr>
        <p:spPr>
          <a:xfrm>
            <a:off x="7205472" y="3232952"/>
            <a:ext cx="43434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vendor licensing, no added headcount. ~$150K to build, $50K/yr for 5,000 students.</a:t>
            </a:r>
            <a:endParaRPr lang="en-US" sz="1300" dirty="0"/>
          </a:p>
        </p:txBody>
      </p:sp>
      <p:sp>
        <p:nvSpPr>
          <p:cNvPr id="92" name="Shape 30"/>
          <p:cNvSpPr/>
          <p:nvPr/>
        </p:nvSpPr>
        <p:spPr>
          <a:xfrm>
            <a:off x="548640" y="4389120"/>
            <a:ext cx="11094415" cy="1000000"/>
          </a:xfrm>
          <a:prstGeom prst="rect">
            <a:avLst/>
          </a:prstGeom>
          <a:solidFill>
            <a:srgbClr val="E6E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31"/>
          <p:cNvSpPr/>
          <p:nvPr/>
        </p:nvSpPr>
        <p:spPr>
          <a:xfrm>
            <a:off x="548640" y="4389120"/>
            <a:ext cx="73152" cy="1000000"/>
          </a:xfrm>
          <a:prstGeom prst="rect">
            <a:avLst/>
          </a:prstGeom>
          <a:solidFill>
            <a:srgbClr val="0028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30"/>
          <p:cNvSpPr/>
          <p:nvPr/>
        </p:nvSpPr>
        <p:spPr>
          <a:xfrm>
            <a:off x="804672" y="4389120"/>
            <a:ext cx="10637215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28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VS. KYRON   </a:t>
            </a:r>
            <a:r>
              <a:rPr lang="en-US" sz="1300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tutoring vendor already in use charges $50K to build 30 experiences and $500K/yr to host 5,000 students, 10x SkillProof's yearly cost.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WGU · PROGRAM DEVELOPMENT · SKILLPROOF OVERVIEW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Oct 2026 · v1.2   ·   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76656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Q&amp;A, feedback every turn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441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99032"/>
            <a:ext cx="329184" cy="329184"/>
          </a:xfrm>
          <a:prstGeom prst="ellipse">
            <a:avLst/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01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ASSESSMENT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28216"/>
            <a:ext cx="8444255" cy="1783080"/>
          </a:xfrm>
          <a:prstGeom prst="roundRect">
            <a:avLst>
              <a:gd name="adj" fmla="val 5128"/>
            </a:avLst>
          </a:prstGeom>
          <a:solidFill>
            <a:srgbClr val="EAF3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837944"/>
            <a:ext cx="25952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62824" y="2020824"/>
            <a:ext cx="566928" cy="566928"/>
          </a:xfrm>
          <a:prstGeom prst="ellipse">
            <a:avLst/>
          </a:prstGeom>
          <a:solidFill>
            <a:srgbClr val="EEF6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696" y="2139696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3504" y="2624328"/>
            <a:ext cx="248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001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asks a question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53080" y="2455164"/>
            <a:ext cx="219456" cy="0"/>
          </a:xfrm>
          <a:prstGeom prst="line">
            <a:avLst/>
          </a:prstGeom>
          <a:noFill/>
          <a:ln w="31750">
            <a:solidFill>
              <a:srgbClr val="007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81680" y="1837944"/>
            <a:ext cx="25952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395864" y="2020824"/>
            <a:ext cx="566928" cy="566928"/>
          </a:xfrm>
          <a:prstGeom prst="ellipse">
            <a:avLst/>
          </a:prstGeom>
          <a:solidFill>
            <a:srgbClr val="EEF6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736" y="2139696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36544" y="2624328"/>
            <a:ext cx="248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001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answers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86120" y="2455164"/>
            <a:ext cx="219456" cy="0"/>
          </a:xfrm>
          <a:prstGeom prst="line">
            <a:avLst/>
          </a:prstGeom>
          <a:noFill/>
          <a:ln w="31750">
            <a:solidFill>
              <a:srgbClr val="007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14720" y="1837944"/>
            <a:ext cx="259529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228904" y="2020824"/>
            <a:ext cx="566928" cy="566928"/>
          </a:xfrm>
          <a:prstGeom prst="ellipse">
            <a:avLst/>
          </a:prstGeom>
          <a:solidFill>
            <a:srgbClr val="EEF6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776" y="213969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9584" y="2624328"/>
            <a:ext cx="248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001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scores + feedback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819159" y="2455164"/>
            <a:ext cx="219456" cy="0"/>
          </a:xfrm>
          <a:prstGeom prst="line">
            <a:avLst/>
          </a:prstGeom>
          <a:noFill/>
          <a:ln w="31750">
            <a:solidFill>
              <a:srgbClr val="007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047759" y="1837944"/>
            <a:ext cx="2595296" cy="1234440"/>
          </a:xfrm>
          <a:prstGeom prst="roundRect">
            <a:avLst>
              <a:gd name="adj" fmla="val 5926"/>
            </a:avLst>
          </a:prstGeom>
          <a:solidFill>
            <a:srgbClr val="001730"/>
          </a:solidFill>
          <a:ln w="12700">
            <a:solidFill>
              <a:srgbClr val="00173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10061943" y="2020824"/>
            <a:ext cx="566928" cy="566928"/>
          </a:xfrm>
          <a:prstGeom prst="ellipse">
            <a:avLst/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815" y="2139696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02623" y="2624328"/>
            <a:ext cx="248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Placement on map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512367" y="3072384"/>
            <a:ext cx="0" cy="237744"/>
          </a:xfrm>
          <a:prstGeom prst="line">
            <a:avLst/>
          </a:prstGeom>
          <a:noFill/>
          <a:ln w="22225">
            <a:solidFill>
              <a:srgbClr val="007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1846288" y="3310128"/>
            <a:ext cx="5666080" cy="0"/>
          </a:xfrm>
          <a:prstGeom prst="line">
            <a:avLst/>
          </a:prstGeom>
          <a:noFill/>
          <a:ln w="22225">
            <a:solidFill>
              <a:srgbClr val="007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1846288" y="3072384"/>
            <a:ext cx="0" cy="237744"/>
          </a:xfrm>
          <a:prstGeom prst="line">
            <a:avLst/>
          </a:prstGeom>
          <a:noFill/>
          <a:ln w="22225">
            <a:solidFill>
              <a:srgbClr val="0070F0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079128" y="3163824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3079128" y="3163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↺  repeats each turn, with feedback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548640" y="3593592"/>
            <a:ext cx="329184" cy="329184"/>
          </a:xfrm>
          <a:prstGeom prst="ellipse">
            <a:avLst/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54864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1005840" y="3611880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01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COACHING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457200" y="3922776"/>
            <a:ext cx="6744432" cy="1783080"/>
          </a:xfrm>
          <a:prstGeom prst="roundRect">
            <a:avLst>
              <a:gd name="adj" fmla="val 5128"/>
            </a:avLst>
          </a:prstGeom>
          <a:solidFill>
            <a:srgbClr val="EAF3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548640" y="4032504"/>
            <a:ext cx="202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1279520" y="4215384"/>
            <a:ext cx="566928" cy="566928"/>
          </a:xfrm>
          <a:prstGeom prst="ellipse">
            <a:avLst/>
          </a:prstGeom>
          <a:solidFill>
            <a:srgbClr val="EEF6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8392" y="4334256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03504" y="4818888"/>
            <a:ext cx="191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001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sets a task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2586472" y="4649724"/>
            <a:ext cx="219456" cy="0"/>
          </a:xfrm>
          <a:prstGeom prst="line">
            <a:avLst/>
          </a:prstGeom>
          <a:noFill/>
          <a:ln w="31750">
            <a:solidFill>
              <a:srgbClr val="007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2815072" y="4032504"/>
            <a:ext cx="202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3545952" y="4215384"/>
            <a:ext cx="566928" cy="566928"/>
          </a:xfrm>
          <a:prstGeom prst="ellipse">
            <a:avLst/>
          </a:prstGeom>
          <a:solidFill>
            <a:srgbClr val="EEF6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824" y="4334256"/>
            <a:ext cx="329184" cy="32918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2869936" y="4818888"/>
            <a:ext cx="191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001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answers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4852904" y="4649724"/>
            <a:ext cx="219456" cy="0"/>
          </a:xfrm>
          <a:prstGeom prst="line">
            <a:avLst/>
          </a:prstGeom>
          <a:noFill/>
          <a:ln w="31750">
            <a:solidFill>
              <a:srgbClr val="007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9"/>
          <p:cNvSpPr/>
          <p:nvPr/>
        </p:nvSpPr>
        <p:spPr>
          <a:xfrm>
            <a:off x="5081504" y="4032504"/>
            <a:ext cx="202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0"/>
          <p:cNvSpPr/>
          <p:nvPr/>
        </p:nvSpPr>
        <p:spPr>
          <a:xfrm>
            <a:off x="5812384" y="4215384"/>
            <a:ext cx="566928" cy="566928"/>
          </a:xfrm>
          <a:prstGeom prst="ellipse">
            <a:avLst/>
          </a:prstGeom>
          <a:solidFill>
            <a:srgbClr val="EEF6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256" y="4334256"/>
            <a:ext cx="329184" cy="329184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5136368" y="4818888"/>
            <a:ext cx="191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001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scores + feedback</a:t>
            </a:r>
            <a:endParaRPr lang="en-US" sz="1100" dirty="0"/>
          </a:p>
        </p:txBody>
      </p:sp>
      <p:sp>
        <p:nvSpPr>
          <p:cNvPr id="51" name="Shape 42"/>
          <p:cNvSpPr/>
          <p:nvPr/>
        </p:nvSpPr>
        <p:spPr>
          <a:xfrm>
            <a:off x="7119336" y="4649724"/>
            <a:ext cx="219456" cy="0"/>
          </a:xfrm>
          <a:prstGeom prst="line">
            <a:avLst/>
          </a:prstGeom>
          <a:noFill/>
          <a:ln w="31750">
            <a:solidFill>
              <a:srgbClr val="007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3"/>
          <p:cNvSpPr/>
          <p:nvPr/>
        </p:nvSpPr>
        <p:spPr>
          <a:xfrm>
            <a:off x="7347936" y="4032504"/>
            <a:ext cx="202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44"/>
          <p:cNvSpPr/>
          <p:nvPr/>
        </p:nvSpPr>
        <p:spPr>
          <a:xfrm>
            <a:off x="8078815" y="4215384"/>
            <a:ext cx="566928" cy="566928"/>
          </a:xfrm>
          <a:prstGeom prst="ellipse">
            <a:avLst/>
          </a:prstGeom>
          <a:solidFill>
            <a:srgbClr val="EEF6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7687" y="4334256"/>
            <a:ext cx="329184" cy="329184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7402800" y="4818888"/>
            <a:ext cx="191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001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topic</a:t>
            </a:r>
            <a:endParaRPr lang="en-US" sz="1100" dirty="0"/>
          </a:p>
        </p:txBody>
      </p:sp>
      <p:sp>
        <p:nvSpPr>
          <p:cNvPr id="56" name="Shape 46"/>
          <p:cNvSpPr/>
          <p:nvPr/>
        </p:nvSpPr>
        <p:spPr>
          <a:xfrm>
            <a:off x="9385767" y="4649724"/>
            <a:ext cx="219456" cy="0"/>
          </a:xfrm>
          <a:prstGeom prst="line">
            <a:avLst/>
          </a:prstGeom>
          <a:noFill/>
          <a:ln w="31750">
            <a:solidFill>
              <a:srgbClr val="0070F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7"/>
          <p:cNvSpPr/>
          <p:nvPr/>
        </p:nvSpPr>
        <p:spPr>
          <a:xfrm>
            <a:off x="9614367" y="4032504"/>
            <a:ext cx="2028688" cy="1234440"/>
          </a:xfrm>
          <a:prstGeom prst="roundRect">
            <a:avLst>
              <a:gd name="adj" fmla="val 5926"/>
            </a:avLst>
          </a:prstGeom>
          <a:solidFill>
            <a:srgbClr val="001730"/>
          </a:solidFill>
          <a:ln w="12700">
            <a:solidFill>
              <a:srgbClr val="001730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48"/>
          <p:cNvSpPr/>
          <p:nvPr/>
        </p:nvSpPr>
        <p:spPr>
          <a:xfrm>
            <a:off x="10345247" y="4215384"/>
            <a:ext cx="566928" cy="566928"/>
          </a:xfrm>
          <a:prstGeom prst="ellipse">
            <a:avLst/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4119" y="4334256"/>
            <a:ext cx="329184" cy="329184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9669231" y="4818888"/>
            <a:ext cx="191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Mastery</a:t>
            </a:r>
            <a:endParaRPr lang="en-US" sz="1100" dirty="0"/>
          </a:p>
        </p:txBody>
      </p:sp>
      <p:sp>
        <p:nvSpPr>
          <p:cNvPr id="61" name="Shape 50"/>
          <p:cNvSpPr/>
          <p:nvPr/>
        </p:nvSpPr>
        <p:spPr>
          <a:xfrm>
            <a:off x="6095848" y="5266944"/>
            <a:ext cx="0" cy="237744"/>
          </a:xfrm>
          <a:prstGeom prst="line">
            <a:avLst/>
          </a:prstGeom>
          <a:noFill/>
          <a:ln w="22225">
            <a:solidFill>
              <a:srgbClr val="007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1"/>
          <p:cNvSpPr/>
          <p:nvPr/>
        </p:nvSpPr>
        <p:spPr>
          <a:xfrm>
            <a:off x="1562984" y="5504688"/>
            <a:ext cx="4532864" cy="0"/>
          </a:xfrm>
          <a:prstGeom prst="line">
            <a:avLst/>
          </a:prstGeom>
          <a:noFill/>
          <a:ln w="22225">
            <a:solidFill>
              <a:srgbClr val="0070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2"/>
          <p:cNvSpPr/>
          <p:nvPr/>
        </p:nvSpPr>
        <p:spPr>
          <a:xfrm>
            <a:off x="1562984" y="5266944"/>
            <a:ext cx="0" cy="237744"/>
          </a:xfrm>
          <a:prstGeom prst="line">
            <a:avLst/>
          </a:prstGeom>
          <a:noFill/>
          <a:ln w="22225">
            <a:solidFill>
              <a:srgbClr val="0070F0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3"/>
          <p:cNvSpPr/>
          <p:nvPr/>
        </p:nvSpPr>
        <p:spPr>
          <a:xfrm>
            <a:off x="2229216" y="5358384"/>
            <a:ext cx="3200400" cy="292608"/>
          </a:xfrm>
          <a:prstGeom prst="roundRect">
            <a:avLst>
              <a:gd name="adj" fmla="val 50000"/>
            </a:avLst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54"/>
          <p:cNvSpPr/>
          <p:nvPr/>
        </p:nvSpPr>
        <p:spPr>
          <a:xfrm>
            <a:off x="2229216" y="5358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↺  repeats each turn, with feedback</a:t>
            </a:r>
            <a:endParaRPr lang="en-US" sz="950" dirty="0"/>
          </a:p>
        </p:txBody>
      </p:sp>
      <p:sp>
        <p:nvSpPr>
          <p:cNvPr id="66" name="Text 55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17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phases are LLM-generated Q&amp;A. </a:t>
            </a:r>
            <a:r>
              <a:rPr lang="en-US" sz="1300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feedback and scoring, in the diagnostic and in coaching alike, until the student demonstrates mastery.</a:t>
            </a:r>
            <a:endParaRPr lang="en-US" sz="1300" dirty="0"/>
          </a:p>
        </p:txBody>
      </p:sp>
      <p:sp>
        <p:nvSpPr>
          <p:cNvPr id="67" name="Shape 5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5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WGU · PROGRAM DEVELOPMENT · SKILLPROOF OVERVIEW</a:t>
            </a:r>
            <a:endParaRPr lang="en-US" sz="800" dirty="0"/>
          </a:p>
        </p:txBody>
      </p:sp>
      <p:sp>
        <p:nvSpPr>
          <p:cNvPr id="69" name="Text 58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Oct 2026 · v1.2   ·   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7665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engine, any subject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35024"/>
            <a:ext cx="1109441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teams configure the scope: one topic or a full course.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63644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636444" cy="128016"/>
          </a:xfrm>
          <a:prstGeom prst="rect">
            <a:avLst/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062288"/>
            <a:ext cx="2636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Management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702288"/>
            <a:ext cx="2636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experience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7964" y="2286000"/>
            <a:ext cx="263644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7964" y="2286000"/>
            <a:ext cx="2636444" cy="128016"/>
          </a:xfrm>
          <a:prstGeom prst="rect">
            <a:avLst/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7964" y="3062288"/>
            <a:ext cx="2636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Professionalism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67964" y="3702288"/>
            <a:ext cx="2636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experience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7288" y="2286000"/>
            <a:ext cx="263644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143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7288" y="2286000"/>
            <a:ext cx="2636444" cy="128016"/>
          </a:xfrm>
          <a:prstGeom prst="rect">
            <a:avLst/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87288" y="3062288"/>
            <a:ext cx="2636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Programming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87288" y="3702288"/>
            <a:ext cx="2636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experience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06612" y="2286000"/>
            <a:ext cx="2636444" cy="2286000"/>
          </a:xfrm>
          <a:prstGeom prst="rect">
            <a:avLst/>
          </a:prstGeom>
          <a:noFill/>
          <a:ln w="1905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06612" y="3062288"/>
            <a:ext cx="26364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program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06612" y="3702288"/>
            <a:ext cx="2636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WGU · PROGRAM DEVELOPMENT · SKILLPROOF OVERVIEW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Oct 2026 · v1.2   ·   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413730" y="0"/>
            <a:ext cx="8778240" cy="6858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48640" y="5943600"/>
            <a:ext cx="2651760" cy="0"/>
          </a:xfrm>
          <a:prstGeom prst="rect">
            <a:avLst/>
          </a:prstGeom>
          <a:noFill/>
          <a:ln w="1016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 41"/>
          <p:cNvSpPr txBox="1"/>
          <p:nvPr/>
        </p:nvSpPr>
        <p:spPr>
          <a:xfrm>
            <a:off x="548640" y="60807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WGU · PROGRAM DEVELOPMENT · SKILLPROOF OVERVIEW</a:t>
            </a:r>
          </a:p>
        </p:txBody>
      </p:sp>
      <p:sp>
        <p:nvSpPr>
          <p:cNvPr id="21" name="Text 42"/>
          <p:cNvSpPr txBox="1"/>
          <p:nvPr/>
        </p:nvSpPr>
        <p:spPr>
          <a:xfrm>
            <a:off x="548640" y="6355080"/>
            <a:ext cx="265176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80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  <a:r>
              <a:rPr sz="800" b="0" i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 Oct 2026 · v1.2   ·   6 / 7</a:t>
            </a:r>
          </a:p>
        </p:txBody>
      </p:sp>
      <p:sp>
        <p:nvSpPr>
          <p:cNvPr id="22" name="Text 1"/>
          <p:cNvSpPr/>
          <p:nvPr/>
        </p:nvSpPr>
        <p:spPr>
          <a:xfrm>
            <a:off x="54864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EXT01: Live walkthrough</a:t>
            </a:r>
            <a:endParaRPr lang="en-US" sz="3000" dirty="0"/>
          </a:p>
        </p:txBody>
      </p:sp>
      <p:sp>
        <p:nvSpPr>
          <p:cNvPr id="23" name="Shape 9">
            <a:hlinkClick r:id="rId6"/>
          </p:cNvPr>
          <p:cNvSpPr/>
          <p:nvPr/>
        </p:nvSpPr>
        <p:spPr>
          <a:xfrm>
            <a:off x="548640" y="3246120"/>
            <a:ext cx="2651760" cy="530352"/>
          </a:xfrm>
          <a:prstGeom prst="roundRect">
            <a:avLst>
              <a:gd name="adj" fmla="val 50000"/>
            </a:avLst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419856"/>
            <a:ext cx="182880" cy="182880"/>
          </a:xfrm>
          <a:prstGeom prst="rect">
            <a:avLst/>
          </a:prstGeom>
        </p:spPr>
      </p:pic>
      <p:sp>
        <p:nvSpPr>
          <p:cNvPr id="25" name="Text 10">
            <a:hlinkClick r:id="rId6"/>
          </p:cNvPr>
          <p:cNvSpPr/>
          <p:nvPr/>
        </p:nvSpPr>
        <p:spPr>
          <a:xfrm>
            <a:off x="960120" y="32461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the live EXT01 coach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9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46B1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WGU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375" y="502920"/>
            <a:ext cx="2011680" cy="6608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Let's talk about SkillProof for your program.</a:t>
            </a:r>
            <a:endParaRPr lang="en-US" sz="1500" dirty="0"/>
          </a:p>
        </p:txBody>
      </p:sp>
      <p:sp>
        <p:nvSpPr>
          <p:cNvPr id="40" name="Text 30"/>
          <p:cNvSpPr/>
          <p:nvPr/>
        </p:nvSpPr>
        <p:spPr>
          <a:xfrm>
            <a:off x="548640" y="1900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17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Explore on your own</a:t>
            </a:r>
            <a:endParaRPr lang="en-US" sz="2000" dirty="0"/>
          </a:p>
        </p:txBody>
      </p:sp>
      <p:sp>
        <p:nvSpPr>
          <p:cNvPr id="41" name="Text 31"/>
          <p:cNvSpPr/>
          <p:nvPr/>
        </p:nvSpPr>
        <p:spPr>
          <a:xfrm>
            <a:off x="548640" y="2500000"/>
            <a:ext cx="54864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persona link and sample skill, all on one page.</a:t>
            </a:r>
            <a:endParaRPr lang="en-US" sz="1400" dirty="0"/>
          </a:p>
        </p:txBody>
      </p:sp>
      <p:sp>
        <p:nvSpPr>
          <p:cNvPr id="42" name="Shape 32">
            <a:hlinkClick r:id="rId4"/>
          </p:cNvPr>
          <p:cNvSpPr/>
          <p:nvPr/>
        </p:nvSpPr>
        <p:spPr>
          <a:xfrm>
            <a:off x="548640" y="3350000"/>
            <a:ext cx="3973484" cy="560000"/>
          </a:xfrm>
          <a:prstGeom prst="roundRect">
            <a:avLst>
              <a:gd name="adj" fmla="val 50000"/>
            </a:avLst>
          </a:prstGeom>
          <a:solidFill>
            <a:srgbClr val="0070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8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538560"/>
            <a:ext cx="182880" cy="182880"/>
          </a:xfrm>
          <a:prstGeom prst="rect">
            <a:avLst/>
          </a:prstGeom>
        </p:spPr>
      </p:pic>
      <p:sp>
        <p:nvSpPr>
          <p:cNvPr id="44" name="Text 32">
            <a:hlinkClick r:id="rId4"/>
          </p:cNvPr>
          <p:cNvSpPr/>
          <p:nvPr/>
        </p:nvSpPr>
        <p:spPr>
          <a:xfrm>
            <a:off x="960120" y="3350000"/>
            <a:ext cx="3562004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SkillProof Project Link Page</a:t>
            </a:r>
            <a:endParaRPr lang="en-US" sz="1300" dirty="0"/>
          </a:p>
        </p:txBody>
      </p:sp>
      <p:sp>
        <p:nvSpPr>
          <p:cNvPr id="45" name="Text 33"/>
          <p:cNvSpPr/>
          <p:nvPr/>
        </p:nvSpPr>
        <p:spPr>
          <a:xfrm>
            <a:off x="548640" y="4050000"/>
            <a:ext cx="54864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/>
              </a:rPr>
              <a:t>brady-wgu.github.io/SkillProof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548640" y="6053328"/>
            <a:ext cx="11091672" cy="0"/>
          </a:xfrm>
          <a:prstGeom prst="line">
            <a:avLst/>
          </a:prstGeom>
          <a:noFill/>
          <a:ln w="12700">
            <a:solidFill>
              <a:srgbClr val="002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3"/>
          <p:cNvSpPr/>
          <p:nvPr/>
        </p:nvSpPr>
        <p:spPr>
          <a:xfrm>
            <a:off x="548640" y="61630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Brady Redfearn, PhD  ·  </a:t>
            </a: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Sr. Technology Strategist, Program Development  ·  brady.redfearn@wgu.edu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93D36C-4791-F1A3-5734-7664D4631B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6284" y="1325880"/>
            <a:ext cx="6315740" cy="45262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GU Brand Theme">
  <a:themeElements>
    <a:clrScheme name="WGU">
      <a:dk1>
        <a:sysClr val="windowText" lastClr="000000"/>
      </a:dk1>
      <a:lt1>
        <a:sysClr val="window" lastClr="FFFFFF"/>
      </a:lt1>
      <a:dk2>
        <a:srgbClr val="002855"/>
      </a:dk2>
      <a:lt2>
        <a:srgbClr val="E6EBF1"/>
      </a:lt2>
      <a:accent1>
        <a:srgbClr val="0070F0"/>
      </a:accent1>
      <a:accent2>
        <a:srgbClr val="46B1EF"/>
      </a:accent2>
      <a:accent3>
        <a:srgbClr val="A5A5A5"/>
      </a:accent3>
      <a:accent4>
        <a:srgbClr val="FFCC00"/>
      </a:accent4>
      <a:accent5>
        <a:srgbClr val="1A6635"/>
      </a:accent5>
      <a:accent6>
        <a:srgbClr val="BF1E2E"/>
      </a:accent6>
      <a:hlink>
        <a:srgbClr val="0070F0"/>
      </a:hlink>
      <a:folHlink>
        <a:srgbClr val="001730"/>
      </a:folHlink>
    </a:clrScheme>
    <a:fontScheme name="WGU">
      <a:majorFont>
        <a:latin typeface="Aptos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431</Words>
  <Application>Microsoft Office PowerPoint</Application>
  <PresentationFormat>Widescreen</PresentationFormat>
  <Paragraphs>74</Paragraphs>
  <Slides>7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WGU Brand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Western Governors University, Program Development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SkillProof: AI Coaching + Extensibility</dc:title>
  <dc:subject>PptxGenJS Presentation</dc:subject>
  <dc:creator>Brady Redfearn</dc:creator>
  <dc:description>Formatting unified to brady-document-style, 28 Jul 2026: single Aptos theme, WGU FY26 palette, WCAG AA, page numbering corrected.</dc:description>
  <cp:lastModifiedBy>Brady Redfearn</cp:lastModifiedBy>
  <cp:revision>5</cp:revision>
  <dcterms:created xsi:type="dcterms:W3CDTF">2026-06-09T18:46:02Z</dcterms:created>
  <dcterms:modified xsi:type="dcterms:W3CDTF">2026-08-07T14:49:41Z</dcterms:modified>
</cp:coreProperties>
</file>